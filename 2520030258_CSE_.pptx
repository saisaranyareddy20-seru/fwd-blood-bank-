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handoutMasterIdLst>
    <p:handoutMasterId r:id="rId25"/>
  </p:handoutMasterIdLst>
  <p:sldIdLst>
    <p:sldId id="314" r:id="rId3"/>
    <p:sldId id="322" r:id="rId4"/>
    <p:sldId id="323" r:id="rId5"/>
    <p:sldId id="349" r:id="rId6"/>
    <p:sldId id="266" r:id="rId7"/>
    <p:sldId id="341" r:id="rId8"/>
    <p:sldId id="342" r:id="rId9"/>
    <p:sldId id="354" r:id="rId10"/>
    <p:sldId id="343" r:id="rId11"/>
    <p:sldId id="344" r:id="rId12"/>
    <p:sldId id="345" r:id="rId13"/>
    <p:sldId id="346" r:id="rId14"/>
    <p:sldId id="340" r:id="rId15"/>
    <p:sldId id="355" r:id="rId16"/>
    <p:sldId id="351" r:id="rId17"/>
    <p:sldId id="356" r:id="rId18"/>
    <p:sldId id="352" r:id="rId19"/>
    <p:sldId id="353" r:id="rId20"/>
    <p:sldId id="347" r:id="rId21"/>
    <p:sldId id="348" r:id="rId22"/>
    <p:sldId id="33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D3376-5D93-4146-91E8-0C876C633431}" v="1" dt="2026-03-07T08:31:18.117"/>
    <p1510:client id="{94A2AC41-0B3E-0531-5BF3-0F7554C9D759}" v="127" dt="2026-03-08T04:15:24.3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74" d="100"/>
          <a:sy n="74" d="100"/>
        </p:scale>
        <p:origin x="200" y="56"/>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r>
              <a:rPr lang="en-IN" sz="2400" dirty="0"/>
              <a:t>Integrated Blood Bank Management Platform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vert="horz" lIns="91440" tIns="45720" rIns="91440" bIns="45720" rtlCol="0" anchor="t">
            <a:normAutofit fontScale="25000" lnSpcReduction="20000"/>
          </a:bodyPr>
          <a:lstStyle/>
          <a:p>
            <a:pPr marL="0" indent="0" algn="ctr">
              <a:buNone/>
            </a:pPr>
            <a:r>
              <a:rPr lang="en-US" sz="9600" dirty="0"/>
              <a:t>Student Name: Sai Saranya</a:t>
            </a:r>
          </a:p>
          <a:p>
            <a:pPr marL="0" indent="0" algn="ctr">
              <a:buNone/>
            </a:pPr>
            <a:r>
              <a:rPr lang="en-US" sz="9600" dirty="0"/>
              <a:t>Student ID: 2520030258</a:t>
            </a:r>
            <a:endParaRPr lang="en-US" sz="2400" dirty="0"/>
          </a:p>
          <a:p>
            <a:pPr marL="0" indent="0" algn="ctr">
              <a:buNone/>
            </a:pPr>
            <a:r>
              <a:rPr lang="en-US" sz="11200" dirty="0"/>
              <a:t>Cluster:4</a:t>
            </a:r>
          </a:p>
          <a:p>
            <a:pPr marL="0" indent="0" algn="ctr">
              <a:buNone/>
            </a:pPr>
            <a:r>
              <a:rPr lang="en-US" sz="11200" dirty="0"/>
              <a:t>Section: 14</a:t>
            </a:r>
            <a:endParaRPr lang="en-US" sz="11200" dirty="0">
              <a:ea typeface="Calibri"/>
              <a:cs typeface="Calibri"/>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1104181" y="3053752"/>
            <a:ext cx="10343072" cy="1850674"/>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a:t>
            </a:r>
            <a:r>
              <a:rPr lang="en-IN" sz="8800" dirty="0"/>
              <a:t> Dr. Jayaram Boga</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6"/>
            <a:ext cx="9145201" cy="894332"/>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431321" y="1328468"/>
            <a:ext cx="11086381" cy="5027881"/>
          </a:xfrm>
        </p:spPr>
        <p:txBody>
          <a:bodyPr>
            <a:normAutofit/>
          </a:bodyPr>
          <a:lstStyle/>
          <a:p>
            <a:pPr marL="0" indent="0">
              <a:buNone/>
            </a:pPr>
            <a:r>
              <a:rPr lang="en-US" dirty="0"/>
              <a:t>The Integrated Blood Bank Management Platform is a comprehensive computerized system designed to manage and coordinate all blood bank operations efficiently. The platform maintains detailed records of blood donors, blood groups, blood collection, testing, storage, and distribution in a centralized database. It reduces manual paperwork, minimizes errors, and improves overall operational accuracy.</a:t>
            </a:r>
          </a:p>
          <a:p>
            <a:pPr marL="0" indent="0">
              <a:buNone/>
            </a:pPr>
            <a:r>
              <a:rPr lang="en-US" dirty="0"/>
              <a:t>The system enables administrators to easily register donors, update donor information, and track donation history. It also monitors blood stock levels in real time, helping staff quickly identify available blood groups during emergencies. This ensures faster response and timely availability of blood for patients and hospitals</a:t>
            </a:r>
            <a:r>
              <a:rPr lang="en-US" sz="3000" dirty="0"/>
              <a:t>.</a:t>
            </a:r>
          </a:p>
          <a:p>
            <a:pPr algn="just"/>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15D757-26E7-4147-BFE5-8A0B98C8162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08223DF7-F002-4B8A-B9EA-7328536C8D76}"/>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517A9BBC-717C-0E4C-4B5F-D516DEBCDBEC}"/>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5" name="TextBox 4">
            <a:extLst>
              <a:ext uri="{FF2B5EF4-FFF2-40B4-BE49-F238E27FC236}">
                <a16:creationId xmlns:a16="http://schemas.microsoft.com/office/drawing/2014/main" id="{FF2EB6DF-C3B0-0C3C-7E2A-6F352DE24EB7}"/>
              </a:ext>
            </a:extLst>
          </p:cNvPr>
          <p:cNvSpPr txBox="1"/>
          <p:nvPr/>
        </p:nvSpPr>
        <p:spPr>
          <a:xfrm>
            <a:off x="1063690" y="1371600"/>
            <a:ext cx="10384971" cy="5109091"/>
          </a:xfrm>
          <a:prstGeom prst="rect">
            <a:avLst/>
          </a:prstGeom>
          <a:noFill/>
        </p:spPr>
        <p:txBody>
          <a:bodyPr wrap="square" rtlCol="0">
            <a:spAutoFit/>
          </a:bodyPr>
          <a:lstStyle/>
          <a:p>
            <a:r>
              <a:rPr lang="en-US" sz="2800" dirty="0"/>
              <a:t>In addition, the platform generates reports related to blood stock, donor activities, and blood requests, assisting management in proper planning and decision-making. Security features such as authentication and access control protect sensitive donor and patient information.</a:t>
            </a:r>
          </a:p>
          <a:p>
            <a:endParaRPr lang="en-US" sz="2800" dirty="0"/>
          </a:p>
          <a:p>
            <a:r>
              <a:rPr lang="en-US" sz="2800" dirty="0"/>
              <a:t>By integrating all blood bank functions into a single digital platform, the system enhances efficiency, transparency, communication, and reliability. Overall, the Integrated Blood Bank Management Platform plays a vital role in supporting life-saving services through effective blood collection, storage, and distribution management.</a:t>
            </a:r>
          </a:p>
          <a:p>
            <a:pPr marL="285750" indent="-285750">
              <a:buFont typeface="Arial" panose="020B0604020202020204" pitchFamily="34" charset="0"/>
              <a:buChar char="•"/>
            </a:pPr>
            <a:endParaRPr lang="en-IN" b="1" dirty="0"/>
          </a:p>
        </p:txBody>
      </p:sp>
    </p:spTree>
    <p:extLst>
      <p:ext uri="{BB962C8B-B14F-4D97-AF65-F5344CB8AC3E}">
        <p14:creationId xmlns:p14="http://schemas.microsoft.com/office/powerpoint/2010/main" val="676521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942DC186-B512-E386-DA7E-30F3E1441260}"/>
              </a:ext>
            </a:extLst>
          </p:cNvPr>
          <p:cNvSpPr>
            <a:spLocks noGrp="1" noChangeArrowheads="1"/>
          </p:cNvSpPr>
          <p:nvPr>
            <p:ph idx="1"/>
          </p:nvPr>
        </p:nvSpPr>
        <p:spPr bwMode="auto">
          <a:xfrm>
            <a:off x="519112" y="2437329"/>
            <a:ext cx="11153775" cy="294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Blood donation coordination mostly happens manually.</a:t>
            </a:r>
          </a:p>
          <a:p>
            <a:r>
              <a:rPr lang="en-US" dirty="0"/>
              <a:t>Hospitals rely on phone calls and personal contacts.</a:t>
            </a:r>
          </a:p>
          <a:p>
            <a:r>
              <a:rPr lang="en-US" dirty="0"/>
              <a:t>Difficult to track available donors quickly.</a:t>
            </a:r>
          </a:p>
          <a:p>
            <a:r>
              <a:rPr lang="en-US" dirty="0"/>
              <a:t>No centralized digital record of donors.</a:t>
            </a:r>
          </a:p>
          <a:p>
            <a:r>
              <a:rPr lang="en-US" dirty="0"/>
              <a:t>Emergency blood requirements may be delayed.</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9958D05D-2AAE-0643-0A6F-AC42C575BFD1}"/>
              </a:ext>
            </a:extLst>
          </p:cNvPr>
          <p:cNvSpPr>
            <a:spLocks noGrp="1" noChangeArrowheads="1"/>
          </p:cNvSpPr>
          <p:nvPr>
            <p:ph idx="1"/>
          </p:nvPr>
        </p:nvSpPr>
        <p:spPr bwMode="auto">
          <a:xfrm>
            <a:off x="660918" y="2086976"/>
            <a:ext cx="11010900" cy="344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Develop a web-based blood donation platform.</a:t>
            </a:r>
          </a:p>
          <a:p>
            <a:r>
              <a:rPr lang="en-US" dirty="0"/>
              <a:t>Allow donors to register their blood group and contact details.</a:t>
            </a:r>
          </a:p>
          <a:p>
            <a:r>
              <a:rPr lang="en-US" dirty="0"/>
              <a:t>Allow patients to request blood units online.</a:t>
            </a:r>
          </a:p>
          <a:p>
            <a:r>
              <a:rPr lang="en-US" dirty="0"/>
              <a:t>Display donor and request history dynamically.</a:t>
            </a:r>
          </a:p>
          <a:p>
            <a:r>
              <a:rPr lang="en-US" dirty="0"/>
              <a:t>Provide search and filter features for blood types.</a:t>
            </a:r>
          </a:p>
          <a:p>
            <a:r>
              <a:rPr lang="en-US" dirty="0"/>
              <a:t>Improve response time during emergencies.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3" name="Content Placeholder 2">
            <a:extLst>
              <a:ext uri="{FF2B5EF4-FFF2-40B4-BE49-F238E27FC236}">
                <a16:creationId xmlns:a16="http://schemas.microsoft.com/office/drawing/2014/main" id="{6CCE6CAA-323E-EE0B-F16C-974BBEC3C36E}"/>
              </a:ext>
            </a:extLst>
          </p:cNvPr>
          <p:cNvSpPr>
            <a:spLocks noGrp="1" noChangeArrowheads="1"/>
          </p:cNvSpPr>
          <p:nvPr>
            <p:ph idx="1"/>
          </p:nvPr>
        </p:nvSpPr>
        <p:spPr bwMode="auto">
          <a:xfrm>
            <a:off x="628650" y="2333153"/>
            <a:ext cx="10934700" cy="294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User Interface Layer – HTML and CSS based web interface.</a:t>
            </a:r>
          </a:p>
          <a:p>
            <a:r>
              <a:rPr lang="en-IN" dirty="0"/>
              <a:t>Application Logic Layer – JavaScript handles validation and events.</a:t>
            </a:r>
          </a:p>
          <a:p>
            <a:r>
              <a:rPr lang="en-IN" dirty="0"/>
              <a:t>Data Storage Layer – Browser local Storage stores donor/request data.</a:t>
            </a:r>
          </a:p>
          <a:p>
            <a:r>
              <a:rPr lang="en-IN" dirty="0"/>
              <a:t>User Interaction – Forms collect donor and requester details.</a:t>
            </a:r>
          </a:p>
          <a:p>
            <a:r>
              <a:rPr lang="en-IN" dirty="0"/>
              <a:t>Display Layer – Dynamic rendering using DOM manipulation.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D2117-E9CC-0DD3-9B7A-12DEFB7A85DF}"/>
              </a:ext>
            </a:extLst>
          </p:cNvPr>
          <p:cNvSpPr>
            <a:spLocks noGrp="1"/>
          </p:cNvSpPr>
          <p:nvPr>
            <p:ph type="title"/>
          </p:nvPr>
        </p:nvSpPr>
        <p:spPr>
          <a:xfrm>
            <a:off x="1930400" y="-60385"/>
            <a:ext cx="9423400" cy="1149549"/>
          </a:xfrm>
        </p:spPr>
        <p:txBody>
          <a:bodyPr/>
          <a:lstStyle/>
          <a:p>
            <a:r>
              <a:rPr lang="en-IN" dirty="0"/>
              <a:t>                System Architecture</a:t>
            </a:r>
          </a:p>
        </p:txBody>
      </p:sp>
      <p:sp>
        <p:nvSpPr>
          <p:cNvPr id="3" name="Date Placeholder 2">
            <a:extLst>
              <a:ext uri="{FF2B5EF4-FFF2-40B4-BE49-F238E27FC236}">
                <a16:creationId xmlns:a16="http://schemas.microsoft.com/office/drawing/2014/main" id="{EFB4C27A-3BA2-0947-363F-1C847237B179}"/>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FC26FA7F-D1C8-1EBE-60E4-D00750831556}"/>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478B15FB-4CCD-6F67-5EAF-A5AB9211D068}"/>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8" name="Picture 7">
            <a:extLst>
              <a:ext uri="{FF2B5EF4-FFF2-40B4-BE49-F238E27FC236}">
                <a16:creationId xmlns:a16="http://schemas.microsoft.com/office/drawing/2014/main" id="{792660D1-14DC-BDD6-157E-EA236B61F22E}"/>
              </a:ext>
            </a:extLst>
          </p:cNvPr>
          <p:cNvPicPr>
            <a:picLocks noChangeAspect="1"/>
          </p:cNvPicPr>
          <p:nvPr/>
        </p:nvPicPr>
        <p:blipFill>
          <a:blip r:embed="rId2"/>
          <a:stretch>
            <a:fillRect/>
          </a:stretch>
        </p:blipFill>
        <p:spPr>
          <a:xfrm>
            <a:off x="517585" y="793630"/>
            <a:ext cx="11093571" cy="5835505"/>
          </a:xfrm>
          <a:prstGeom prst="rect">
            <a:avLst/>
          </a:prstGeom>
        </p:spPr>
      </p:pic>
    </p:spTree>
    <p:extLst>
      <p:ext uri="{BB962C8B-B14F-4D97-AF65-F5344CB8AC3E}">
        <p14:creationId xmlns:p14="http://schemas.microsoft.com/office/powerpoint/2010/main" val="3866948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C6F13A59-9D4A-E691-B2F9-1F4D07957E14}"/>
              </a:ext>
            </a:extLst>
          </p:cNvPr>
          <p:cNvSpPr>
            <a:spLocks noGrp="1" noChangeArrowheads="1"/>
          </p:cNvSpPr>
          <p:nvPr>
            <p:ph idx="1"/>
          </p:nvPr>
        </p:nvSpPr>
        <p:spPr bwMode="auto">
          <a:xfrm>
            <a:off x="514350" y="1512408"/>
            <a:ext cx="11210925" cy="4977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Donor Registration Module</a:t>
            </a:r>
          </a:p>
          <a:p>
            <a:pPr marL="0" indent="0">
              <a:buNone/>
            </a:pPr>
            <a:r>
              <a:rPr lang="en-US" dirty="0"/>
              <a:t>Allows users to register as blood donors.</a:t>
            </a:r>
          </a:p>
          <a:p>
            <a:r>
              <a:rPr lang="en-US" b="1" dirty="0"/>
              <a:t>Blood Request Module</a:t>
            </a:r>
          </a:p>
          <a:p>
            <a:pPr marL="0" indent="0">
              <a:buNone/>
            </a:pPr>
            <a:r>
              <a:rPr lang="en-US" dirty="0"/>
              <a:t>Allows patients to request blood units.</a:t>
            </a:r>
          </a:p>
          <a:p>
            <a:r>
              <a:rPr lang="en-US" b="1" dirty="0"/>
              <a:t>History Management Module</a:t>
            </a:r>
          </a:p>
          <a:p>
            <a:pPr marL="0" indent="0">
              <a:buNone/>
            </a:pPr>
            <a:r>
              <a:rPr lang="en-US" dirty="0"/>
              <a:t>Maintains donor and requester records.</a:t>
            </a:r>
          </a:p>
          <a:p>
            <a:r>
              <a:rPr lang="en-US" b="1" dirty="0"/>
              <a:t>Search and Filter Module</a:t>
            </a:r>
          </a:p>
          <a:p>
            <a:r>
              <a:rPr lang="en-US" b="1" dirty="0"/>
              <a:t>Theme Management Module</a:t>
            </a:r>
          </a:p>
          <a:p>
            <a:r>
              <a:rPr lang="en-US" b="1" dirty="0"/>
              <a:t>User Interface Module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96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11" name="Rectangle 4">
            <a:extLst>
              <a:ext uri="{FF2B5EF4-FFF2-40B4-BE49-F238E27FC236}">
                <a16:creationId xmlns:a16="http://schemas.microsoft.com/office/drawing/2014/main" id="{A96E0F07-E36B-D1F9-5257-B9ED019BFC5D}"/>
              </a:ext>
            </a:extLst>
          </p:cNvPr>
          <p:cNvSpPr>
            <a:spLocks noGrp="1" noChangeArrowheads="1"/>
          </p:cNvSpPr>
          <p:nvPr>
            <p:ph idx="1"/>
          </p:nvPr>
        </p:nvSpPr>
        <p:spPr bwMode="auto">
          <a:xfrm>
            <a:off x="838201" y="2263383"/>
            <a:ext cx="11049000" cy="347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Create a digital platform for blood donation.</a:t>
            </a:r>
          </a:p>
          <a:p>
            <a:r>
              <a:rPr lang="en-IN" dirty="0"/>
              <a:t>Help patients find blood donors quickly.</a:t>
            </a:r>
          </a:p>
          <a:p>
            <a:r>
              <a:rPr lang="en-IN" dirty="0"/>
              <a:t>Reduce delay during medical emergencies.</a:t>
            </a:r>
          </a:p>
          <a:p>
            <a:r>
              <a:rPr lang="en-IN" dirty="0"/>
              <a:t>Maintain digital donor records.</a:t>
            </a:r>
          </a:p>
          <a:p>
            <a:r>
              <a:rPr lang="en-IN" dirty="0"/>
              <a:t>Provide user‑friendly interface for registrations.</a:t>
            </a:r>
          </a:p>
          <a:p>
            <a:r>
              <a:rPr lang="en-IN" dirty="0"/>
              <a:t>Encourage community participation in blood donation.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98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2" name="Content Placeholder 1">
            <a:extLst>
              <a:ext uri="{FF2B5EF4-FFF2-40B4-BE49-F238E27FC236}">
                <a16:creationId xmlns:a16="http://schemas.microsoft.com/office/drawing/2014/main" id="{871A634C-9997-E2E3-8C1C-2DF338189B60}"/>
              </a:ext>
            </a:extLst>
          </p:cNvPr>
          <p:cNvSpPr>
            <a:spLocks noGrp="1" noChangeArrowheads="1"/>
          </p:cNvSpPr>
          <p:nvPr>
            <p:ph idx="1"/>
          </p:nvPr>
        </p:nvSpPr>
        <p:spPr bwMode="auto">
          <a:xfrm>
            <a:off x="838200" y="2344649"/>
            <a:ext cx="11068050" cy="2959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CO1: Understanding HTML structure and CSS styling.</a:t>
            </a:r>
          </a:p>
          <a:p>
            <a:r>
              <a:rPr lang="en-US" dirty="0"/>
              <a:t>CO2: Designing responsive layouts using CSS.</a:t>
            </a:r>
          </a:p>
          <a:p>
            <a:r>
              <a:rPr lang="en-US" dirty="0"/>
              <a:t>CO3: Implementing JavaScript logic and functions.</a:t>
            </a:r>
          </a:p>
          <a:p>
            <a:r>
              <a:rPr lang="en-US" dirty="0"/>
              <a:t>CO4: Using DOM manipulation for dynamic content.</a:t>
            </a:r>
          </a:p>
          <a:p>
            <a:r>
              <a:rPr lang="en-US" dirty="0"/>
              <a:t>CO5: Building complete interactive web applications.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94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2" name="Content Placeholder 1">
            <a:extLst>
              <a:ext uri="{FF2B5EF4-FFF2-40B4-BE49-F238E27FC236}">
                <a16:creationId xmlns:a16="http://schemas.microsoft.com/office/drawing/2014/main" id="{968B99E4-702A-60E6-074C-08B7522C4496}"/>
              </a:ext>
            </a:extLst>
          </p:cNvPr>
          <p:cNvSpPr>
            <a:spLocks noGrp="1" noChangeArrowheads="1"/>
          </p:cNvSpPr>
          <p:nvPr>
            <p:ph idx="1"/>
          </p:nvPr>
        </p:nvSpPr>
        <p:spPr bwMode="auto">
          <a:xfrm>
            <a:off x="471487" y="1199663"/>
            <a:ext cx="11249025" cy="5122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CO Attainments – DSA</a:t>
            </a:r>
            <a:endParaRPr lang="en-US" sz="2400" b="1" dirty="0">
              <a:ea typeface="Calibri"/>
              <a:cs typeface="Calibri"/>
            </a:endParaRPr>
          </a:p>
          <a:p>
            <a:r>
              <a:rPr lang="en-US" sz="2400" dirty="0"/>
              <a:t>CO1  A</a:t>
            </a:r>
            <a:r>
              <a:rPr lang="en-US" sz="2400" dirty="0">
                <a:ea typeface="+mn-lt"/>
                <a:cs typeface="+mn-lt"/>
              </a:rPr>
              <a:t> full </a:t>
            </a:r>
            <a:r>
              <a:rPr lang="en-US" sz="2400" b="1" dirty="0">
                <a:ea typeface="+mn-lt"/>
                <a:cs typeface="+mn-lt"/>
              </a:rPr>
              <a:t>Big-O Summary Table</a:t>
            </a:r>
            <a:r>
              <a:rPr lang="en-US" sz="2400" dirty="0">
                <a:ea typeface="+mn-lt"/>
                <a:cs typeface="+mn-lt"/>
              </a:rPr>
              <a:t> (best/average/worst + space complexity notes) is printed at runtime. CO1 is </a:t>
            </a:r>
            <a:r>
              <a:rPr lang="en-US" sz="2400" b="1" dirty="0">
                <a:ea typeface="+mn-lt"/>
                <a:cs typeface="+mn-lt"/>
              </a:rPr>
              <a:t>fully attained</a:t>
            </a:r>
            <a:r>
              <a:rPr lang="en-US" sz="2400" dirty="0">
                <a:ea typeface="+mn-lt"/>
                <a:cs typeface="+mn-lt"/>
              </a:rPr>
              <a:t>.</a:t>
            </a:r>
            <a:endParaRPr lang="en-US" sz="2400" dirty="0">
              <a:ea typeface="Calibri" panose="020F0502020204030204"/>
              <a:cs typeface="Calibri" panose="020F0502020204030204"/>
            </a:endParaRPr>
          </a:p>
          <a:p>
            <a:r>
              <a:rPr lang="en-US" sz="2400" dirty="0"/>
              <a:t>CO2  </a:t>
            </a:r>
            <a:r>
              <a:rPr lang="en-US" sz="2400" b="1" dirty="0"/>
              <a:t>Doubly</a:t>
            </a:r>
            <a:r>
              <a:rPr lang="en-US" sz="2400" b="1" dirty="0">
                <a:ea typeface="+mn-lt"/>
                <a:cs typeface="+mn-lt"/>
              </a:rPr>
              <a:t> Linked List</a:t>
            </a:r>
            <a:r>
              <a:rPr lang="en-US" sz="2400" dirty="0">
                <a:ea typeface="+mn-lt"/>
                <a:cs typeface="+mn-lt"/>
              </a:rPr>
              <a:t> (</a:t>
            </a:r>
            <a:r>
              <a:rPr lang="en-US" sz="2400" dirty="0" err="1">
                <a:latin typeface="Consolas"/>
                <a:ea typeface="Calibri"/>
                <a:cs typeface="Calibri"/>
              </a:rPr>
              <a:t>DonorLinkedList</a:t>
            </a:r>
            <a:r>
              <a:rPr lang="en-US" sz="2400" dirty="0">
                <a:ea typeface="+mn-lt"/>
                <a:cs typeface="+mn-lt"/>
              </a:rPr>
              <a:t>): Insert at head/tail O(1), delete by ID O(n), forward/backward traversal, in-place reversal, array conversion for sorting.</a:t>
            </a:r>
            <a:endParaRPr lang="en-US" sz="2400" b="1" dirty="0">
              <a:ea typeface="Calibri"/>
              <a:cs typeface="Calibri"/>
            </a:endParaRPr>
          </a:p>
          <a:p>
            <a:r>
              <a:rPr lang="en-US" sz="2400" dirty="0"/>
              <a:t>CO3  </a:t>
            </a:r>
            <a:r>
              <a:rPr lang="en-US" sz="2400" b="1" dirty="0"/>
              <a:t>Priority</a:t>
            </a:r>
            <a:r>
              <a:rPr lang="en-US" sz="2400" b="1" dirty="0">
                <a:ea typeface="+mn-lt"/>
                <a:cs typeface="+mn-lt"/>
              </a:rPr>
              <a:t> Queue / Max-Heap</a:t>
            </a:r>
            <a:r>
              <a:rPr lang="en-US" sz="2400" dirty="0">
                <a:ea typeface="+mn-lt"/>
                <a:cs typeface="+mn-lt"/>
              </a:rPr>
              <a:t> (</a:t>
            </a:r>
            <a:r>
              <a:rPr lang="en-US" sz="2400" dirty="0" err="1">
                <a:latin typeface="Consolas"/>
              </a:rPr>
              <a:t>EmergencyDonorPQ</a:t>
            </a:r>
            <a:r>
              <a:rPr lang="en-US" sz="2400" dirty="0">
                <a:ea typeface="+mn-lt"/>
                <a:cs typeface="+mn-lt"/>
              </a:rPr>
              <a:t>): Java </a:t>
            </a:r>
            <a:r>
              <a:rPr lang="en-US" sz="2400" dirty="0" err="1">
                <a:latin typeface="Consolas"/>
              </a:rPr>
              <a:t>PriorityQueue</a:t>
            </a:r>
            <a:r>
              <a:rPr lang="en-US" sz="2400" dirty="0">
                <a:ea typeface="+mn-lt"/>
                <a:cs typeface="+mn-lt"/>
              </a:rPr>
              <a:t> with custom comparator (max-heap by </a:t>
            </a:r>
            <a:r>
              <a:rPr lang="en-US" sz="2400" dirty="0" err="1">
                <a:latin typeface="Consolas"/>
              </a:rPr>
              <a:t>unitsDonated</a:t>
            </a:r>
            <a:r>
              <a:rPr lang="en-US" sz="2400" dirty="0">
                <a:ea typeface="+mn-lt"/>
                <a:cs typeface="+mn-lt"/>
              </a:rPr>
              <a:t>), used for </a:t>
            </a:r>
            <a:r>
              <a:rPr lang="en-US" sz="2400" b="1" dirty="0">
                <a:ea typeface="+mn-lt"/>
                <a:cs typeface="+mn-lt"/>
              </a:rPr>
              <a:t>emergency donor dispatch</a:t>
            </a:r>
            <a:r>
              <a:rPr lang="en-US" sz="2400" dirty="0">
                <a:ea typeface="+mn-lt"/>
                <a:cs typeface="+mn-lt"/>
              </a:rPr>
              <a:t>.</a:t>
            </a:r>
          </a:p>
          <a:p>
            <a:r>
              <a:rPr lang="en-US" sz="2400" dirty="0">
                <a:ea typeface="+mn-lt"/>
                <a:cs typeface="+mn-lt"/>
              </a:rPr>
              <a:t>CO4 </a:t>
            </a:r>
            <a:r>
              <a:rPr lang="en-US" sz="2400" b="1" dirty="0">
                <a:ea typeface="+mn-lt"/>
                <a:cs typeface="+mn-lt"/>
              </a:rPr>
              <a:t>Java HashMap</a:t>
            </a:r>
            <a:r>
              <a:rPr lang="en-US" sz="2400" dirty="0">
                <a:ea typeface="+mn-lt"/>
                <a:cs typeface="+mn-lt"/>
              </a:rPr>
              <a:t> (</a:t>
            </a:r>
            <a:r>
              <a:rPr lang="en-US" sz="2400" dirty="0" err="1">
                <a:latin typeface="Consolas"/>
              </a:rPr>
              <a:t>CityDonorMap</a:t>
            </a:r>
            <a:r>
              <a:rPr lang="en-US" sz="2400" dirty="0">
                <a:ea typeface="+mn-lt"/>
                <a:cs typeface="+mn-lt"/>
              </a:rPr>
              <a:t>): </a:t>
            </a:r>
            <a:r>
              <a:rPr lang="en-US" sz="2400" dirty="0">
                <a:latin typeface="Consolas"/>
              </a:rPr>
              <a:t>HashMap&lt;String, List&lt;</a:t>
            </a:r>
            <a:r>
              <a:rPr lang="en-US" sz="2400" dirty="0" err="1">
                <a:latin typeface="Consolas"/>
              </a:rPr>
              <a:t>DonorNode</a:t>
            </a:r>
            <a:r>
              <a:rPr lang="en-US" sz="2400" dirty="0">
                <a:latin typeface="Consolas"/>
              </a:rPr>
              <a:t>&gt;&gt;</a:t>
            </a:r>
            <a:r>
              <a:rPr lang="en-US" sz="2400" dirty="0">
                <a:ea typeface="+mn-lt"/>
                <a:cs typeface="+mn-lt"/>
              </a:rPr>
              <a:t> used for city-wise grouping, demonstrates </a:t>
            </a:r>
            <a:r>
              <a:rPr lang="en-US" sz="2400" dirty="0" err="1">
                <a:latin typeface="Consolas"/>
              </a:rPr>
              <a:t>computeIfAbsent</a:t>
            </a:r>
            <a:r>
              <a:rPr lang="en-US" sz="2400" dirty="0">
                <a:ea typeface="+mn-lt"/>
                <a:cs typeface="+mn-lt"/>
              </a:rPr>
              <a:t>, </a:t>
            </a:r>
            <a:r>
              <a:rPr lang="en-US" sz="2400" dirty="0" err="1">
                <a:latin typeface="Consolas"/>
              </a:rPr>
              <a:t>getOrDefault</a:t>
            </a:r>
            <a:r>
              <a:rPr lang="en-US" sz="2400" dirty="0">
                <a:ea typeface="+mn-lt"/>
                <a:cs typeface="+mn-lt"/>
              </a:rPr>
              <a:t>, and </a:t>
            </a:r>
            <a:r>
              <a:rPr lang="en-US" sz="2400" dirty="0" err="1">
                <a:latin typeface="Consolas"/>
              </a:rPr>
              <a:t>Map.Entry</a:t>
            </a:r>
            <a:r>
              <a:rPr lang="en-US" sz="2400" dirty="0">
                <a:ea typeface="+mn-lt"/>
                <a:cs typeface="+mn-lt"/>
              </a:rPr>
              <a:t> iteration.</a:t>
            </a:r>
            <a:endParaRPr lang="en-US" sz="2400" dirty="0"/>
          </a:p>
          <a:p>
            <a:r>
              <a:rPr lang="en-US" sz="2400" dirty="0"/>
              <a:t>CO5 Develop a </a:t>
            </a:r>
            <a:r>
              <a:rPr lang="en-US" sz="2400" b="1" dirty="0"/>
              <a:t>real-world application using data structures</a:t>
            </a:r>
            <a:r>
              <a:rPr lang="en-US" sz="2400" dirty="0"/>
              <a:t>.</a:t>
            </a:r>
            <a:endParaRPr lang="en-US" sz="2400">
              <a:ea typeface="Calibri" panose="020F0502020204030204"/>
              <a:cs typeface="Calibri" panose="020F0502020204030204"/>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6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a:t>
            </a:r>
          </a:p>
        </p:txBody>
      </p:sp>
      <p:sp>
        <p:nvSpPr>
          <p:cNvPr id="3" name="Content Placeholder 2">
            <a:extLst>
              <a:ext uri="{FF2B5EF4-FFF2-40B4-BE49-F238E27FC236}">
                <a16:creationId xmlns:a16="http://schemas.microsoft.com/office/drawing/2014/main" id="{D408550D-1730-34EA-8ABA-9BB036DE20DE}"/>
              </a:ext>
            </a:extLst>
          </p:cNvPr>
          <p:cNvSpPr>
            <a:spLocks noGrp="1"/>
          </p:cNvSpPr>
          <p:nvPr>
            <p:ph idx="1"/>
          </p:nvPr>
        </p:nvSpPr>
        <p:spPr>
          <a:xfrm>
            <a:off x="505408" y="1250830"/>
            <a:ext cx="5590592" cy="439858"/>
          </a:xfrm>
        </p:spPr>
        <p:txBody>
          <a:bodyPr>
            <a:normAutofit lnSpcReduction="10000"/>
          </a:bodyPr>
          <a:lstStyle/>
          <a:p>
            <a:pPr marL="0" marR="0" lvl="0" indent="0" algn="just">
              <a:spcBef>
                <a:spcPts val="0"/>
              </a:spcBef>
              <a:spcAft>
                <a:spcPts val="0"/>
              </a:spcAft>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CO1 – HTML Structure &amp; Basic CSS</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13" name="Content Placeholder 2">
            <a:extLst>
              <a:ext uri="{FF2B5EF4-FFF2-40B4-BE49-F238E27FC236}">
                <a16:creationId xmlns:a16="http://schemas.microsoft.com/office/drawing/2014/main" id="{F8BF7A41-06F0-6693-89A1-EA050A149F49}"/>
              </a:ext>
            </a:extLst>
          </p:cNvPr>
          <p:cNvSpPr txBox="1">
            <a:spLocks/>
          </p:cNvSpPr>
          <p:nvPr/>
        </p:nvSpPr>
        <p:spPr>
          <a:xfrm>
            <a:off x="246615" y="3768514"/>
            <a:ext cx="5590592" cy="11029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tabLst>
                <a:tab pos="228600" algn="l"/>
                <a:tab pos="228600" algn="l"/>
                <a:tab pos="282575" algn="l"/>
                <a:tab pos="339725" algn="l"/>
              </a:tabLst>
            </a:pP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7FB90D6-5550-B7E7-2AE3-0DA8DF359720}"/>
              </a:ext>
            </a:extLst>
          </p:cNvPr>
          <p:cNvPicPr>
            <a:picLocks noChangeAspect="1"/>
          </p:cNvPicPr>
          <p:nvPr/>
        </p:nvPicPr>
        <p:blipFill>
          <a:blip r:embed="rId2"/>
          <a:stretch>
            <a:fillRect/>
          </a:stretch>
        </p:blipFill>
        <p:spPr>
          <a:xfrm>
            <a:off x="298255" y="1601486"/>
            <a:ext cx="5538952" cy="4680305"/>
          </a:xfrm>
          <a:prstGeom prst="rect">
            <a:avLst/>
          </a:prstGeom>
        </p:spPr>
      </p:pic>
      <p:pic>
        <p:nvPicPr>
          <p:cNvPr id="10" name="Picture 9">
            <a:extLst>
              <a:ext uri="{FF2B5EF4-FFF2-40B4-BE49-F238E27FC236}">
                <a16:creationId xmlns:a16="http://schemas.microsoft.com/office/drawing/2014/main" id="{2B553C9C-5A73-7EAE-6FF0-ADCD66ED5DEE}"/>
              </a:ext>
            </a:extLst>
          </p:cNvPr>
          <p:cNvPicPr>
            <a:picLocks noChangeAspect="1"/>
          </p:cNvPicPr>
          <p:nvPr/>
        </p:nvPicPr>
        <p:blipFill>
          <a:blip r:embed="rId3"/>
          <a:stretch>
            <a:fillRect/>
          </a:stretch>
        </p:blipFill>
        <p:spPr>
          <a:xfrm>
            <a:off x="6193766" y="1601486"/>
            <a:ext cx="5998234" cy="4680306"/>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D5660-54FA-0F3A-DE2E-35AF8ED0C642}"/>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762EE229-8752-5A91-A495-F357ADFB3C6F}"/>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0258A4AD-65F8-EF6E-4F4D-400FD29C0CE4}"/>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5" name="Picture 4">
            <a:extLst>
              <a:ext uri="{FF2B5EF4-FFF2-40B4-BE49-F238E27FC236}">
                <a16:creationId xmlns:a16="http://schemas.microsoft.com/office/drawing/2014/main" id="{156F9C56-DEE6-F75A-416B-17A295CEAFCB}"/>
              </a:ext>
            </a:extLst>
          </p:cNvPr>
          <p:cNvPicPr>
            <a:picLocks noChangeAspect="1"/>
          </p:cNvPicPr>
          <p:nvPr/>
        </p:nvPicPr>
        <p:blipFill>
          <a:blip r:embed="rId2"/>
          <a:stretch>
            <a:fillRect/>
          </a:stretch>
        </p:blipFill>
        <p:spPr>
          <a:xfrm>
            <a:off x="200306" y="1371601"/>
            <a:ext cx="5734850" cy="5061488"/>
          </a:xfrm>
          <a:prstGeom prst="rect">
            <a:avLst/>
          </a:prstGeom>
        </p:spPr>
      </p:pic>
      <p:pic>
        <p:nvPicPr>
          <p:cNvPr id="6" name="Picture 5">
            <a:extLst>
              <a:ext uri="{FF2B5EF4-FFF2-40B4-BE49-F238E27FC236}">
                <a16:creationId xmlns:a16="http://schemas.microsoft.com/office/drawing/2014/main" id="{71D29E7D-8C74-A8A0-4864-14F49E083993}"/>
              </a:ext>
            </a:extLst>
          </p:cNvPr>
          <p:cNvPicPr>
            <a:picLocks noChangeAspect="1"/>
          </p:cNvPicPr>
          <p:nvPr/>
        </p:nvPicPr>
        <p:blipFill>
          <a:blip r:embed="rId3"/>
          <a:stretch>
            <a:fillRect/>
          </a:stretch>
        </p:blipFill>
        <p:spPr>
          <a:xfrm>
            <a:off x="6026195" y="1371602"/>
            <a:ext cx="5953956" cy="4912918"/>
          </a:xfrm>
          <a:prstGeom prst="rect">
            <a:avLst/>
          </a:prstGeom>
        </p:spPr>
      </p:pic>
      <p:sp>
        <p:nvSpPr>
          <p:cNvPr id="8" name="TextBox 7">
            <a:extLst>
              <a:ext uri="{FF2B5EF4-FFF2-40B4-BE49-F238E27FC236}">
                <a16:creationId xmlns:a16="http://schemas.microsoft.com/office/drawing/2014/main" id="{404F827E-0A62-56FE-F868-FFC43269E21C}"/>
              </a:ext>
            </a:extLst>
          </p:cNvPr>
          <p:cNvSpPr txBox="1"/>
          <p:nvPr/>
        </p:nvSpPr>
        <p:spPr>
          <a:xfrm>
            <a:off x="318459" y="644872"/>
            <a:ext cx="6094562"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CO-2 – </a:t>
            </a:r>
            <a:r>
              <a:rPr lang="en-IN" sz="2400" dirty="0">
                <a:latin typeface="Times New Roman" panose="02020603050405020304" pitchFamily="18" charset="0"/>
                <a:cs typeface="Times New Roman" panose="02020603050405020304" pitchFamily="18" charset="0"/>
              </a:rPr>
              <a:t>HTML Forms &amp; Input Handling</a:t>
            </a:r>
            <a:endParaRPr lang="en-IN" sz="2400" dirty="0"/>
          </a:p>
        </p:txBody>
      </p:sp>
    </p:spTree>
    <p:extLst>
      <p:ext uri="{BB962C8B-B14F-4D97-AF65-F5344CB8AC3E}">
        <p14:creationId xmlns:p14="http://schemas.microsoft.com/office/powerpoint/2010/main" val="53303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F6F3-E6BA-7239-74AB-7CEDBBCE3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40FB5-FA42-65E9-B1B5-961BDACE48FC}"/>
              </a:ext>
            </a:extLst>
          </p:cNvPr>
          <p:cNvSpPr>
            <a:spLocks noGrp="1"/>
          </p:cNvSpPr>
          <p:nvPr>
            <p:ph type="title"/>
          </p:nvPr>
        </p:nvSpPr>
        <p:spPr/>
        <p:txBody>
          <a:bodyPr/>
          <a:lstStyle/>
          <a:p>
            <a:r>
              <a:rPr lang="en-US" dirty="0"/>
              <a:t>Screenshots for FWD</a:t>
            </a:r>
          </a:p>
        </p:txBody>
      </p:sp>
      <p:sp>
        <p:nvSpPr>
          <p:cNvPr id="4" name="Date Placeholder 3">
            <a:extLst>
              <a:ext uri="{FF2B5EF4-FFF2-40B4-BE49-F238E27FC236}">
                <a16:creationId xmlns:a16="http://schemas.microsoft.com/office/drawing/2014/main" id="{DA589F95-AAE0-8770-014B-71F3BD1CCE3A}"/>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2EBC23C-C828-82CA-93D3-CCA85C21D49A}"/>
              </a:ext>
            </a:extLst>
          </p:cNvPr>
          <p:cNvSpPr>
            <a:spLocks noGrp="1"/>
          </p:cNvSpPr>
          <p:nvPr>
            <p:ph type="ftr" sz="quarter" idx="11"/>
          </p:nvPr>
        </p:nvSpPr>
        <p:spPr>
          <a:xfrm>
            <a:off x="4038600" y="5640357"/>
            <a:ext cx="4114800" cy="365125"/>
          </a:xfrm>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2A3BEC17-5F80-C482-55D4-7ED77D03390F}"/>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13" name="Content Placeholder 2">
            <a:extLst>
              <a:ext uri="{FF2B5EF4-FFF2-40B4-BE49-F238E27FC236}">
                <a16:creationId xmlns:a16="http://schemas.microsoft.com/office/drawing/2014/main" id="{61BFAD57-FC23-11C4-48CC-ADB85FBDC0EB}"/>
              </a:ext>
            </a:extLst>
          </p:cNvPr>
          <p:cNvSpPr txBox="1">
            <a:spLocks/>
          </p:cNvSpPr>
          <p:nvPr/>
        </p:nvSpPr>
        <p:spPr>
          <a:xfrm>
            <a:off x="334345" y="3846338"/>
            <a:ext cx="5590592" cy="4860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CO4 – </a:t>
            </a:r>
            <a:r>
              <a:rPr lang="en-IN" sz="2600" dirty="0">
                <a:latin typeface="Times New Roman" panose="02020603050405020304" pitchFamily="18" charset="0"/>
                <a:cs typeface="Times New Roman" panose="02020603050405020304" pitchFamily="18" charset="0"/>
              </a:rPr>
              <a:t>JavaScript DOM Manipulation</a:t>
            </a:r>
            <a:r>
              <a:rPr lang="en-US" sz="2600" dirty="0">
                <a:latin typeface="Times New Roman" panose="02020603050405020304" pitchFamily="18" charset="0"/>
                <a:cs typeface="Times New Roman" panose="02020603050405020304" pitchFamily="18" charset="0"/>
              </a:rPr>
              <a:t> </a:t>
            </a:r>
          </a:p>
        </p:txBody>
      </p:sp>
      <p:sp>
        <p:nvSpPr>
          <p:cNvPr id="18" name="Content Placeholder 2">
            <a:extLst>
              <a:ext uri="{FF2B5EF4-FFF2-40B4-BE49-F238E27FC236}">
                <a16:creationId xmlns:a16="http://schemas.microsoft.com/office/drawing/2014/main" id="{7B48FA1B-769C-28DE-C7F4-A29478C8D4DC}"/>
              </a:ext>
            </a:extLst>
          </p:cNvPr>
          <p:cNvSpPr txBox="1">
            <a:spLocks/>
          </p:cNvSpPr>
          <p:nvPr/>
        </p:nvSpPr>
        <p:spPr>
          <a:xfrm>
            <a:off x="334345" y="1454047"/>
            <a:ext cx="6187751" cy="591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CO3 – </a:t>
            </a:r>
            <a:r>
              <a:rPr lang="en-IN" sz="2600" dirty="0">
                <a:latin typeface="Times New Roman" panose="02020603050405020304" pitchFamily="18" charset="0"/>
                <a:cs typeface="Times New Roman" panose="02020603050405020304" pitchFamily="18" charset="0"/>
              </a:rPr>
              <a:t>JavaScript Programming Concepts</a:t>
            </a:r>
            <a:endParaRPr lang="en-US" sz="2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B1488C8-0ECF-60B6-3976-A8632F5F9025}"/>
              </a:ext>
            </a:extLst>
          </p:cNvPr>
          <p:cNvPicPr>
            <a:picLocks noChangeAspect="1"/>
          </p:cNvPicPr>
          <p:nvPr/>
        </p:nvPicPr>
        <p:blipFill>
          <a:blip r:embed="rId2"/>
          <a:stretch>
            <a:fillRect/>
          </a:stretch>
        </p:blipFill>
        <p:spPr>
          <a:xfrm>
            <a:off x="125962" y="1871932"/>
            <a:ext cx="7741329" cy="1974405"/>
          </a:xfrm>
          <a:prstGeom prst="rect">
            <a:avLst/>
          </a:prstGeom>
        </p:spPr>
      </p:pic>
      <p:pic>
        <p:nvPicPr>
          <p:cNvPr id="9" name="Picture 8">
            <a:extLst>
              <a:ext uri="{FF2B5EF4-FFF2-40B4-BE49-F238E27FC236}">
                <a16:creationId xmlns:a16="http://schemas.microsoft.com/office/drawing/2014/main" id="{2BF8F5E7-E2F8-93C7-6F99-2858E61D6A71}"/>
              </a:ext>
            </a:extLst>
          </p:cNvPr>
          <p:cNvPicPr>
            <a:picLocks noChangeAspect="1"/>
          </p:cNvPicPr>
          <p:nvPr/>
        </p:nvPicPr>
        <p:blipFill>
          <a:blip r:embed="rId3"/>
          <a:stretch>
            <a:fillRect/>
          </a:stretch>
        </p:blipFill>
        <p:spPr>
          <a:xfrm>
            <a:off x="461860" y="4332339"/>
            <a:ext cx="7189769" cy="2389136"/>
          </a:xfrm>
          <a:prstGeom prst="rect">
            <a:avLst/>
          </a:prstGeom>
        </p:spPr>
      </p:pic>
    </p:spTree>
    <p:extLst>
      <p:ext uri="{BB962C8B-B14F-4D97-AF65-F5344CB8AC3E}">
        <p14:creationId xmlns:p14="http://schemas.microsoft.com/office/powerpoint/2010/main" val="1049628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C6C64A-1A21-24A3-10ED-F4D1C0C33363}"/>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D835DFE-5281-BA58-336A-7F4BFDFC845A}"/>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61D4CEEA-5387-4053-C901-4AAD94C41F30}"/>
              </a:ext>
            </a:extLst>
          </p:cNvPr>
          <p:cNvSpPr>
            <a:spLocks noGrp="1"/>
          </p:cNvSpPr>
          <p:nvPr>
            <p:ph type="sldNum" sz="quarter" idx="12"/>
          </p:nvPr>
        </p:nvSpPr>
        <p:spPr/>
        <p:txBody>
          <a:bodyPr/>
          <a:lstStyle/>
          <a:p>
            <a:fld id="{B961B71F-4B40-8942-BB88-E0F5C0B46E10}" type="slidenum">
              <a:rPr lang="en-US" smtClean="0"/>
              <a:t>16</a:t>
            </a:fld>
            <a:endParaRPr lang="en-US"/>
          </a:p>
        </p:txBody>
      </p:sp>
      <p:sp>
        <p:nvSpPr>
          <p:cNvPr id="6" name="TextBox 5">
            <a:extLst>
              <a:ext uri="{FF2B5EF4-FFF2-40B4-BE49-F238E27FC236}">
                <a16:creationId xmlns:a16="http://schemas.microsoft.com/office/drawing/2014/main" id="{B20742EC-27AA-85BE-2889-F737582FFA36}"/>
              </a:ext>
            </a:extLst>
          </p:cNvPr>
          <p:cNvSpPr txBox="1"/>
          <p:nvPr/>
        </p:nvSpPr>
        <p:spPr>
          <a:xfrm>
            <a:off x="534119" y="412054"/>
            <a:ext cx="6094562" cy="461665"/>
          </a:xfrm>
          <a:prstGeom prst="rect">
            <a:avLst/>
          </a:prstGeom>
          <a:noFill/>
        </p:spPr>
        <p:txBody>
          <a:bodyPr wrap="square">
            <a:spAutoFit/>
          </a:bodyPr>
          <a:lstStyle/>
          <a:p>
            <a:r>
              <a:rPr lang="en-US" sz="2400" dirty="0"/>
              <a:t>CO5 – Advanced Web Application Features</a:t>
            </a:r>
            <a:endParaRPr lang="en-IN" sz="2400" dirty="0"/>
          </a:p>
        </p:txBody>
      </p:sp>
      <p:pic>
        <p:nvPicPr>
          <p:cNvPr id="9" name="Picture 8">
            <a:extLst>
              <a:ext uri="{FF2B5EF4-FFF2-40B4-BE49-F238E27FC236}">
                <a16:creationId xmlns:a16="http://schemas.microsoft.com/office/drawing/2014/main" id="{D756BCB5-C7AC-8879-5D11-DB174305070F}"/>
              </a:ext>
            </a:extLst>
          </p:cNvPr>
          <p:cNvPicPr>
            <a:picLocks noChangeAspect="1"/>
          </p:cNvPicPr>
          <p:nvPr/>
        </p:nvPicPr>
        <p:blipFill>
          <a:blip r:embed="rId2"/>
          <a:stretch>
            <a:fillRect/>
          </a:stretch>
        </p:blipFill>
        <p:spPr>
          <a:xfrm>
            <a:off x="122207" y="882205"/>
            <a:ext cx="6157823" cy="5563741"/>
          </a:xfrm>
          <a:prstGeom prst="rect">
            <a:avLst/>
          </a:prstGeom>
        </p:spPr>
      </p:pic>
      <p:pic>
        <p:nvPicPr>
          <p:cNvPr id="11" name="Picture 10">
            <a:extLst>
              <a:ext uri="{FF2B5EF4-FFF2-40B4-BE49-F238E27FC236}">
                <a16:creationId xmlns:a16="http://schemas.microsoft.com/office/drawing/2014/main" id="{F66E278B-E637-9A34-E540-9839AB4FA38F}"/>
              </a:ext>
            </a:extLst>
          </p:cNvPr>
          <p:cNvPicPr>
            <a:picLocks noChangeAspect="1"/>
          </p:cNvPicPr>
          <p:nvPr/>
        </p:nvPicPr>
        <p:blipFill>
          <a:blip r:embed="rId3"/>
          <a:stretch>
            <a:fillRect/>
          </a:stretch>
        </p:blipFill>
        <p:spPr>
          <a:xfrm>
            <a:off x="6280030" y="329540"/>
            <a:ext cx="5911970" cy="6198920"/>
          </a:xfrm>
          <a:prstGeom prst="rect">
            <a:avLst/>
          </a:prstGeom>
        </p:spPr>
      </p:pic>
    </p:spTree>
    <p:extLst>
      <p:ext uri="{BB962C8B-B14F-4D97-AF65-F5344CB8AC3E}">
        <p14:creationId xmlns:p14="http://schemas.microsoft.com/office/powerpoint/2010/main" val="2287796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76D8-8728-41B7-5587-0D0719CA3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A36EC-27B3-6B53-CECC-196E376F633D}"/>
              </a:ext>
            </a:extLst>
          </p:cNvPr>
          <p:cNvSpPr>
            <a:spLocks noGrp="1"/>
          </p:cNvSpPr>
          <p:nvPr>
            <p:ph type="title"/>
          </p:nvPr>
        </p:nvSpPr>
        <p:spPr/>
        <p:txBody>
          <a:bodyPr/>
          <a:lstStyle/>
          <a:p>
            <a:r>
              <a:rPr lang="en-US" dirty="0"/>
              <a:t>Screenshots for DSA</a:t>
            </a:r>
          </a:p>
        </p:txBody>
      </p:sp>
      <p:sp>
        <p:nvSpPr>
          <p:cNvPr id="3" name="Content Placeholder 2">
            <a:extLst>
              <a:ext uri="{FF2B5EF4-FFF2-40B4-BE49-F238E27FC236}">
                <a16:creationId xmlns:a16="http://schemas.microsoft.com/office/drawing/2014/main" id="{89257237-3935-BE6D-6900-474FBCA57648}"/>
              </a:ext>
            </a:extLst>
          </p:cNvPr>
          <p:cNvSpPr>
            <a:spLocks noGrp="1"/>
          </p:cNvSpPr>
          <p:nvPr>
            <p:ph idx="1"/>
          </p:nvPr>
        </p:nvSpPr>
        <p:spPr>
          <a:xfrm>
            <a:off x="505408" y="1591480"/>
            <a:ext cx="5590592" cy="591004"/>
          </a:xfrm>
        </p:spPr>
        <p:txBody>
          <a:bodyPr>
            <a:noAutofit/>
          </a:bodyPr>
          <a:lstStyle/>
          <a:p>
            <a:pPr marL="0" marR="0" lvl="0" indent="0">
              <a:spcBef>
                <a:spcPts val="0"/>
              </a:spcBef>
              <a:spcAft>
                <a:spcPts val="0"/>
              </a:spcAft>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CO1 – </a:t>
            </a:r>
            <a:r>
              <a:rPr lang="en-IN" sz="2600" dirty="0">
                <a:latin typeface="Times New Roman" panose="02020603050405020304" pitchFamily="18" charset="0"/>
                <a:cs typeface="Times New Roman" panose="02020603050405020304" pitchFamily="18" charset="0"/>
              </a:rPr>
              <a:t>Algorithm Implementation     (Searching / Efficiency Concept)</a:t>
            </a:r>
            <a:endParaRPr lang="en-US" sz="2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E5CC271-11F4-C73B-034B-0CBE19B9E2D4}"/>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CCFF2ABB-F909-6FD4-2008-DEA9DEC870B1}"/>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326352D8-2A1F-9B79-BF3A-C4411A12944E}"/>
              </a:ext>
            </a:extLst>
          </p:cNvPr>
          <p:cNvSpPr>
            <a:spLocks noGrp="1"/>
          </p:cNvSpPr>
          <p:nvPr>
            <p:ph type="sldNum" sz="quarter" idx="12"/>
          </p:nvPr>
        </p:nvSpPr>
        <p:spPr/>
        <p:txBody>
          <a:bodyPr/>
          <a:lstStyle/>
          <a:p>
            <a:fld id="{B961B71F-4B40-8942-BB88-E0F5C0B46E10}" type="slidenum">
              <a:rPr lang="en-US" smtClean="0"/>
              <a:t>17</a:t>
            </a:fld>
            <a:endParaRPr lang="en-US"/>
          </a:p>
        </p:txBody>
      </p:sp>
      <p:sp>
        <p:nvSpPr>
          <p:cNvPr id="13" name="Content Placeholder 2">
            <a:extLst>
              <a:ext uri="{FF2B5EF4-FFF2-40B4-BE49-F238E27FC236}">
                <a16:creationId xmlns:a16="http://schemas.microsoft.com/office/drawing/2014/main" id="{C4A99F9B-8E62-B9B9-CFE3-2611ECBD250E}"/>
              </a:ext>
            </a:extLst>
          </p:cNvPr>
          <p:cNvSpPr txBox="1">
            <a:spLocks/>
          </p:cNvSpPr>
          <p:nvPr/>
        </p:nvSpPr>
        <p:spPr>
          <a:xfrm>
            <a:off x="454894" y="4083883"/>
            <a:ext cx="4143736" cy="5041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tabLst>
                <a:tab pos="228600" algn="l"/>
                <a:tab pos="228600" algn="l"/>
                <a:tab pos="282575" algn="l"/>
                <a:tab pos="339725" algn="l"/>
              </a:tabLst>
            </a:pPr>
            <a:r>
              <a:rPr lang="en-US" dirty="0">
                <a:latin typeface="Times New Roman" panose="02020603050405020304" pitchFamily="18" charset="0"/>
                <a:cs typeface="Times New Roman" panose="02020603050405020304" pitchFamily="18" charset="0"/>
              </a:rPr>
              <a:t>CO2 – </a:t>
            </a:r>
            <a:r>
              <a:rPr lang="en-IN" sz="2600" dirty="0">
                <a:latin typeface="Times New Roman" panose="02020603050405020304" pitchFamily="18" charset="0"/>
                <a:cs typeface="Times New Roman" panose="02020603050405020304" pitchFamily="18" charset="0"/>
              </a:rPr>
              <a:t>ADT using </a:t>
            </a:r>
            <a:r>
              <a:rPr lang="en-IN" sz="2600" dirty="0" err="1">
                <a:latin typeface="Times New Roman" panose="02020603050405020304" pitchFamily="18" charset="0"/>
                <a:cs typeface="Times New Roman" panose="02020603050405020304" pitchFamily="18" charset="0"/>
              </a:rPr>
              <a:t>ArrayList</a:t>
            </a:r>
            <a:endParaRPr lang="en-US" sz="2600" dirty="0">
              <a:latin typeface="Times New Roman" panose="02020603050405020304" pitchFamily="18" charset="0"/>
              <a:cs typeface="Times New Roman" panose="02020603050405020304" pitchFamily="18" charset="0"/>
            </a:endParaRPr>
          </a:p>
        </p:txBody>
      </p:sp>
      <p:pic>
        <p:nvPicPr>
          <p:cNvPr id="7" name="Picture 6" descr="A computer screen shot of a program">
            <a:extLst>
              <a:ext uri="{FF2B5EF4-FFF2-40B4-BE49-F238E27FC236}">
                <a16:creationId xmlns:a16="http://schemas.microsoft.com/office/drawing/2014/main" id="{B87D2815-E079-AA2D-95C5-9CB3D61F298F}"/>
              </a:ext>
            </a:extLst>
          </p:cNvPr>
          <p:cNvPicPr>
            <a:picLocks noChangeAspect="1"/>
          </p:cNvPicPr>
          <p:nvPr/>
        </p:nvPicPr>
        <p:blipFill>
          <a:blip r:embed="rId2"/>
          <a:stretch>
            <a:fillRect/>
          </a:stretch>
        </p:blipFill>
        <p:spPr>
          <a:xfrm>
            <a:off x="458764" y="2348167"/>
            <a:ext cx="5505931" cy="1739712"/>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006C8C74-7B94-DB5E-1C93-1F5FA2535B4F}"/>
              </a:ext>
            </a:extLst>
          </p:cNvPr>
          <p:cNvPicPr>
            <a:picLocks noChangeAspect="1"/>
          </p:cNvPicPr>
          <p:nvPr/>
        </p:nvPicPr>
        <p:blipFill>
          <a:blip r:embed="rId3"/>
          <a:stretch>
            <a:fillRect/>
          </a:stretch>
        </p:blipFill>
        <p:spPr>
          <a:xfrm>
            <a:off x="6087499" y="1910063"/>
            <a:ext cx="5900798" cy="2179417"/>
          </a:xfrm>
          <a:prstGeom prst="rect">
            <a:avLst/>
          </a:prstGeom>
        </p:spPr>
      </p:pic>
      <p:pic>
        <p:nvPicPr>
          <p:cNvPr id="9" name="Picture 8" descr="A screenshot of a computer code&#10;&#10;AI-generated content may be incorrect.">
            <a:extLst>
              <a:ext uri="{FF2B5EF4-FFF2-40B4-BE49-F238E27FC236}">
                <a16:creationId xmlns:a16="http://schemas.microsoft.com/office/drawing/2014/main" id="{562C3FB3-279F-E8F0-DCC7-EAB5D94986FC}"/>
              </a:ext>
            </a:extLst>
          </p:cNvPr>
          <p:cNvPicPr>
            <a:picLocks noChangeAspect="1"/>
          </p:cNvPicPr>
          <p:nvPr/>
        </p:nvPicPr>
        <p:blipFill>
          <a:blip r:embed="rId4"/>
          <a:stretch>
            <a:fillRect/>
          </a:stretch>
        </p:blipFill>
        <p:spPr>
          <a:xfrm>
            <a:off x="151315" y="4595572"/>
            <a:ext cx="6198485" cy="1939843"/>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C67FBD62-3229-3078-1884-316315D2B0B4}"/>
              </a:ext>
            </a:extLst>
          </p:cNvPr>
          <p:cNvPicPr>
            <a:picLocks noChangeAspect="1"/>
          </p:cNvPicPr>
          <p:nvPr/>
        </p:nvPicPr>
        <p:blipFill>
          <a:blip r:embed="rId5"/>
          <a:stretch>
            <a:fillRect/>
          </a:stretch>
        </p:blipFill>
        <p:spPr>
          <a:xfrm>
            <a:off x="6596880" y="4089721"/>
            <a:ext cx="5393252" cy="2642887"/>
          </a:xfrm>
          <a:prstGeom prst="rect">
            <a:avLst/>
          </a:prstGeom>
        </p:spPr>
      </p:pic>
    </p:spTree>
    <p:extLst>
      <p:ext uri="{BB962C8B-B14F-4D97-AF65-F5344CB8AC3E}">
        <p14:creationId xmlns:p14="http://schemas.microsoft.com/office/powerpoint/2010/main" val="3937841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ABFF-7A30-855C-D7C4-D8A69E393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0C270-A1F5-B107-F9D8-C21BE77E2C65}"/>
              </a:ext>
            </a:extLst>
          </p:cNvPr>
          <p:cNvSpPr>
            <a:spLocks noGrp="1"/>
          </p:cNvSpPr>
          <p:nvPr>
            <p:ph type="title"/>
          </p:nvPr>
        </p:nvSpPr>
        <p:spPr/>
        <p:txBody>
          <a:bodyPr/>
          <a:lstStyle/>
          <a:p>
            <a:r>
              <a:rPr lang="en-US" dirty="0"/>
              <a:t>Screenshots for DSA</a:t>
            </a:r>
          </a:p>
        </p:txBody>
      </p:sp>
      <p:sp>
        <p:nvSpPr>
          <p:cNvPr id="4" name="Date Placeholder 3">
            <a:extLst>
              <a:ext uri="{FF2B5EF4-FFF2-40B4-BE49-F238E27FC236}">
                <a16:creationId xmlns:a16="http://schemas.microsoft.com/office/drawing/2014/main" id="{87C4BD01-7658-1172-E026-861F88940D43}"/>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EDB9B9E0-3CD3-3D79-47D8-FB85715DDD7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B58CD9B-CF78-AA04-7FAB-ECFFFC368220}"/>
              </a:ext>
            </a:extLst>
          </p:cNvPr>
          <p:cNvSpPr>
            <a:spLocks noGrp="1"/>
          </p:cNvSpPr>
          <p:nvPr>
            <p:ph type="sldNum" sz="quarter" idx="12"/>
          </p:nvPr>
        </p:nvSpPr>
        <p:spPr/>
        <p:txBody>
          <a:bodyPr/>
          <a:lstStyle/>
          <a:p>
            <a:fld id="{B961B71F-4B40-8942-BB88-E0F5C0B46E10}" type="slidenum">
              <a:rPr lang="en-US" smtClean="0"/>
              <a:t>18</a:t>
            </a:fld>
            <a:endParaRPr lang="en-US"/>
          </a:p>
        </p:txBody>
      </p:sp>
      <p:sp>
        <p:nvSpPr>
          <p:cNvPr id="13" name="Content Placeholder 2">
            <a:extLst>
              <a:ext uri="{FF2B5EF4-FFF2-40B4-BE49-F238E27FC236}">
                <a16:creationId xmlns:a16="http://schemas.microsoft.com/office/drawing/2014/main" id="{C10CB72E-C35E-11AF-8F44-A9B93695926E}"/>
              </a:ext>
            </a:extLst>
          </p:cNvPr>
          <p:cNvSpPr txBox="1">
            <a:spLocks/>
          </p:cNvSpPr>
          <p:nvPr/>
        </p:nvSpPr>
        <p:spPr>
          <a:xfrm>
            <a:off x="136848" y="3821346"/>
            <a:ext cx="5590592" cy="7646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CO4 – </a:t>
            </a:r>
            <a:r>
              <a:rPr lang="en-IN" sz="2600" dirty="0">
                <a:latin typeface="Times New Roman" panose="02020603050405020304" pitchFamily="18" charset="0"/>
                <a:cs typeface="Times New Roman" panose="02020603050405020304" pitchFamily="18" charset="0"/>
              </a:rPr>
              <a:t>Hash-Based Data Structures</a:t>
            </a:r>
            <a:endParaRPr lang="en-US" sz="2600" dirty="0">
              <a:latin typeface="Times New Roman" panose="02020603050405020304" pitchFamily="18" charset="0"/>
              <a:cs typeface="Times New Roman" panose="02020603050405020304" pitchFamily="18" charset="0"/>
            </a:endParaRPr>
          </a:p>
        </p:txBody>
      </p:sp>
      <p:sp>
        <p:nvSpPr>
          <p:cNvPr id="18" name="Content Placeholder 2">
            <a:extLst>
              <a:ext uri="{FF2B5EF4-FFF2-40B4-BE49-F238E27FC236}">
                <a16:creationId xmlns:a16="http://schemas.microsoft.com/office/drawing/2014/main" id="{D1563654-6363-7818-5FBF-8467E2BC5027}"/>
              </a:ext>
            </a:extLst>
          </p:cNvPr>
          <p:cNvSpPr txBox="1">
            <a:spLocks/>
          </p:cNvSpPr>
          <p:nvPr/>
        </p:nvSpPr>
        <p:spPr>
          <a:xfrm>
            <a:off x="334345" y="1454047"/>
            <a:ext cx="6187751" cy="591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tabLst>
                <a:tab pos="228600" algn="l"/>
                <a:tab pos="228600" algn="l"/>
                <a:tab pos="282575" algn="l"/>
                <a:tab pos="339725" algn="l"/>
              </a:tabLst>
            </a:pPr>
            <a:r>
              <a:rPr lang="en-US" sz="2600" dirty="0">
                <a:latin typeface="Times New Roman" panose="02020603050405020304" pitchFamily="18" charset="0"/>
                <a:cs typeface="Times New Roman" panose="02020603050405020304" pitchFamily="18" charset="0"/>
              </a:rPr>
              <a:t>CO3 – </a:t>
            </a:r>
            <a:r>
              <a:rPr lang="en-IN" sz="2600" dirty="0">
                <a:latin typeface="Times New Roman" panose="02020603050405020304" pitchFamily="18" charset="0"/>
                <a:cs typeface="Times New Roman" panose="02020603050405020304" pitchFamily="18" charset="0"/>
              </a:rPr>
              <a:t>Linear Data Structure Operations</a:t>
            </a:r>
            <a:endParaRPr lang="en-US" sz="2600" dirty="0">
              <a:latin typeface="Times New Roman" panose="02020603050405020304" pitchFamily="18" charset="0"/>
              <a:cs typeface="Times New Roman" panose="02020603050405020304" pitchFamily="18" charset="0"/>
            </a:endParaRPr>
          </a:p>
        </p:txBody>
      </p:sp>
      <p:pic>
        <p:nvPicPr>
          <p:cNvPr id="3" name="Picture 2" descr="A computer screen shot of a program&#10;&#10;AI-generated content may be incorrect.">
            <a:extLst>
              <a:ext uri="{FF2B5EF4-FFF2-40B4-BE49-F238E27FC236}">
                <a16:creationId xmlns:a16="http://schemas.microsoft.com/office/drawing/2014/main" id="{2FE1BFD5-ED8D-523D-885E-227042005AD3}"/>
              </a:ext>
            </a:extLst>
          </p:cNvPr>
          <p:cNvPicPr>
            <a:picLocks noChangeAspect="1"/>
          </p:cNvPicPr>
          <p:nvPr/>
        </p:nvPicPr>
        <p:blipFill>
          <a:blip r:embed="rId2"/>
          <a:stretch>
            <a:fillRect/>
          </a:stretch>
        </p:blipFill>
        <p:spPr>
          <a:xfrm>
            <a:off x="328251" y="1888602"/>
            <a:ext cx="6519803" cy="1932973"/>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24E108A5-CAEA-92A9-5BA1-2312679BFFA9}"/>
              </a:ext>
            </a:extLst>
          </p:cNvPr>
          <p:cNvPicPr>
            <a:picLocks noChangeAspect="1"/>
          </p:cNvPicPr>
          <p:nvPr/>
        </p:nvPicPr>
        <p:blipFill>
          <a:blip r:embed="rId3"/>
          <a:stretch>
            <a:fillRect/>
          </a:stretch>
        </p:blipFill>
        <p:spPr>
          <a:xfrm>
            <a:off x="6514796" y="1750610"/>
            <a:ext cx="5325923" cy="2180020"/>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CAC502CD-B877-A055-9894-18C0DB1E0311}"/>
              </a:ext>
            </a:extLst>
          </p:cNvPr>
          <p:cNvPicPr>
            <a:picLocks noChangeAspect="1"/>
          </p:cNvPicPr>
          <p:nvPr/>
        </p:nvPicPr>
        <p:blipFill>
          <a:blip r:embed="rId4"/>
          <a:stretch>
            <a:fillRect/>
          </a:stretch>
        </p:blipFill>
        <p:spPr>
          <a:xfrm>
            <a:off x="-10185" y="4205468"/>
            <a:ext cx="12202722" cy="2652532"/>
          </a:xfrm>
          <a:prstGeom prst="rect">
            <a:avLst/>
          </a:prstGeom>
        </p:spPr>
      </p:pic>
    </p:spTree>
    <p:extLst>
      <p:ext uri="{BB962C8B-B14F-4D97-AF65-F5344CB8AC3E}">
        <p14:creationId xmlns:p14="http://schemas.microsoft.com/office/powerpoint/2010/main" val="7631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85000" lnSpcReduction="20000"/>
          </a:bodyPr>
          <a:lstStyle/>
          <a:p>
            <a:r>
              <a:rPr lang="en-US" dirty="0"/>
              <a:t>The </a:t>
            </a:r>
            <a:r>
              <a:rPr lang="en-US" b="1" dirty="0"/>
              <a:t>Blood Bank Donor Information System</a:t>
            </a:r>
            <a:r>
              <a:rPr lang="en-US" dirty="0"/>
              <a:t> demonstrates how data structures and algorithms can be effectively used to manage donor information and blood requests in a structured and efficient way. The system stores and organizes donor records using data structures such as </a:t>
            </a:r>
            <a:r>
              <a:rPr lang="en-US" b="1" dirty="0"/>
              <a:t>Doubly Linked Lists, Stack, Circular Queue, Priority Queue, Hash Tables, and HashMap</a:t>
            </a:r>
            <a:r>
              <a:rPr lang="en-US" dirty="0"/>
              <a:t>. These structures help in performing operations like insertion, deletion, searching, and sorting of donor data. By implementing different sorting and searching algorithms, the system ensures that donor information can be accessed quickly and managed efficiently.</a:t>
            </a:r>
          </a:p>
          <a:p>
            <a:r>
              <a:rPr lang="en-US" dirty="0"/>
              <a:t>Overall, this project highlights the practical application of </a:t>
            </a:r>
            <a:r>
              <a:rPr lang="en-US" b="1" dirty="0"/>
              <a:t>Data Structures and Algorithms (DSA)</a:t>
            </a:r>
            <a:r>
              <a:rPr lang="en-US" dirty="0"/>
              <a:t> in solving real-world healthcare problems. Features such as emergency donor prioritization, request processing, and quick blood group lookup improve the efficiency of blood bank management. The system also demonstrates how Java programming concepts and algorithmic techniques can be integrated to build reliable and scalable applications that support faster decision-making and better organization of donor records.</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19</a:t>
            </a:fld>
            <a:endParaRPr lang="en-US"/>
          </a:p>
        </p:txBody>
      </p:sp>
    </p:spTree>
    <p:extLst>
      <p:ext uri="{BB962C8B-B14F-4D97-AF65-F5344CB8AC3E}">
        <p14:creationId xmlns:p14="http://schemas.microsoft.com/office/powerpoint/2010/main" val="2858912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20</a:t>
            </a:fld>
            <a:endParaRPr lang="en-US"/>
          </a:p>
        </p:txBody>
      </p:sp>
      <p:pic>
        <p:nvPicPr>
          <p:cNvPr id="11" name="Content Placeholder 10">
            <a:extLst>
              <a:ext uri="{FF2B5EF4-FFF2-40B4-BE49-F238E27FC236}">
                <a16:creationId xmlns:a16="http://schemas.microsoft.com/office/drawing/2014/main" id="{1830747B-E800-B40E-9EA4-264E7AA8910A}"/>
              </a:ext>
            </a:extLst>
          </p:cNvPr>
          <p:cNvPicPr>
            <a:picLocks noGrp="1" noChangeAspect="1"/>
          </p:cNvPicPr>
          <p:nvPr>
            <p:ph idx="1"/>
          </p:nvPr>
        </p:nvPicPr>
        <p:blipFill>
          <a:blip r:embed="rId2"/>
          <a:stretch>
            <a:fillRect/>
          </a:stretch>
        </p:blipFill>
        <p:spPr>
          <a:xfrm>
            <a:off x="838200" y="1690688"/>
            <a:ext cx="3630789" cy="2042319"/>
          </a:xfrm>
          <a:prstGeom prst="rect">
            <a:avLst/>
          </a:prstGeom>
        </p:spPr>
      </p:pic>
      <p:pic>
        <p:nvPicPr>
          <p:cNvPr id="14" name="Picture 13">
            <a:extLst>
              <a:ext uri="{FF2B5EF4-FFF2-40B4-BE49-F238E27FC236}">
                <a16:creationId xmlns:a16="http://schemas.microsoft.com/office/drawing/2014/main" id="{66366CC4-3B06-F6A5-675E-30D07842FC42}"/>
              </a:ext>
            </a:extLst>
          </p:cNvPr>
          <p:cNvPicPr>
            <a:picLocks noChangeAspect="1"/>
          </p:cNvPicPr>
          <p:nvPr/>
        </p:nvPicPr>
        <p:blipFill>
          <a:blip r:embed="rId3"/>
          <a:stretch>
            <a:fillRect/>
          </a:stretch>
        </p:blipFill>
        <p:spPr>
          <a:xfrm>
            <a:off x="6993467" y="1690688"/>
            <a:ext cx="4605866" cy="2268646"/>
          </a:xfrm>
          <a:prstGeom prst="rect">
            <a:avLst/>
          </a:prstGeom>
        </p:spPr>
      </p:pic>
      <p:pic>
        <p:nvPicPr>
          <p:cNvPr id="16" name="Picture 15">
            <a:extLst>
              <a:ext uri="{FF2B5EF4-FFF2-40B4-BE49-F238E27FC236}">
                <a16:creationId xmlns:a16="http://schemas.microsoft.com/office/drawing/2014/main" id="{64261856-FC4F-3C95-912C-052A13FA572D}"/>
              </a:ext>
            </a:extLst>
          </p:cNvPr>
          <p:cNvPicPr>
            <a:picLocks noChangeAspect="1"/>
          </p:cNvPicPr>
          <p:nvPr/>
        </p:nvPicPr>
        <p:blipFill>
          <a:blip r:embed="rId4"/>
          <a:stretch>
            <a:fillRect/>
          </a:stretch>
        </p:blipFill>
        <p:spPr>
          <a:xfrm>
            <a:off x="4468989" y="4263737"/>
            <a:ext cx="2652491" cy="2042319"/>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21</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3845</TotalTime>
  <Words>1078</Words>
  <Application>Microsoft Office PowerPoint</Application>
  <PresentationFormat>Widescreen</PresentationFormat>
  <Paragraphs>165</Paragraphs>
  <Slides>21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Calibri Light</vt:lpstr>
      <vt:lpstr>Consolas</vt:lpstr>
      <vt:lpstr>Times New Roman</vt:lpstr>
      <vt:lpstr>Office Theme</vt:lpstr>
      <vt:lpstr>Custom Design</vt:lpstr>
      <vt:lpstr>Title :Integrated Blood Bank Management Platform</vt:lpstr>
      <vt:lpstr>OUTLINE</vt:lpstr>
      <vt:lpstr>Abstract</vt:lpstr>
      <vt:lpstr>PowerPoint Presentation</vt:lpstr>
      <vt:lpstr>Existing System </vt:lpstr>
      <vt:lpstr>Proposed System</vt:lpstr>
      <vt:lpstr>System Architecture</vt:lpstr>
      <vt:lpstr>                System Architecture</vt:lpstr>
      <vt:lpstr>Project Modules</vt:lpstr>
      <vt:lpstr>Objectives</vt:lpstr>
      <vt:lpstr>Co’s Attainments - FWD</vt:lpstr>
      <vt:lpstr>Co’s Attainments - DSA</vt:lpstr>
      <vt:lpstr>Screenshots for FWD</vt:lpstr>
      <vt:lpstr>PowerPoint Presentation</vt:lpstr>
      <vt:lpstr>Screenshots for FWD</vt:lpstr>
      <vt:lpstr>PowerPoint Presentation</vt:lpstr>
      <vt:lpstr>Screenshots for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Bhimavarapu Sai Saranya</cp:lastModifiedBy>
  <cp:revision>108</cp:revision>
  <dcterms:created xsi:type="dcterms:W3CDTF">2022-05-20T10:20:31Z</dcterms:created>
  <dcterms:modified xsi:type="dcterms:W3CDTF">2026-03-10T03:05:05Z</dcterms:modified>
</cp:coreProperties>
</file>